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6922008" cy="256032"/>
          </a:xfrm>
          <a:prstGeom prst="rect">
            <a:avLst/>
          </a:prstGeom>
          <a:noFill/>
          <a:effectLst/>
        </p:spPr>
        <p:txBody>
          <a:bodyPr wrap="none">
            <a:normAutofit/>
          </a:bodyPr>
          <a:lstStyle/>
          <a:p>
            <a:r>
              <a:rPr sz="1400" b="1" dirty="0">
                <a:latin typeface="標楷體"/>
              </a:rPr>
              <a:t>1. diagram.svg</a:t>
            </a:r>
            <a:endParaRPr dirty="0" sz="1400"/>
          </a:p>
        </p:txBody>
      </p:sp>
      <p:cxnSp>
        <p:nvCxnSpPr>
          <p:cNvPr id="3" name="Connector 2"/>
          <p:cNvCxnSpPr/>
          <p:nvPr/>
        </p:nvCxnSpPr>
        <p:spPr>
          <a:xfrm>
            <a:off x="2854109" y="3072684"/>
            <a:ext cx="0" cy="400000"/>
          </a:xfrm>
          <a:prstGeom prst="line">
            <a:avLst/>
          </a:prstGeom>
          <a:ln w="12700">
            <a:solidFill>
              <a:srgbClr val="11111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854109" y="3772684"/>
            <a:ext cx="0" cy="400000"/>
          </a:xfrm>
          <a:prstGeom prst="line">
            <a:avLst/>
          </a:prstGeom>
          <a:ln w="12700">
            <a:solidFill>
              <a:srgbClr val="11111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854109" y="4472684"/>
            <a:ext cx="0" cy="400000"/>
          </a:xfrm>
          <a:prstGeom prst="line">
            <a:avLst/>
          </a:prstGeom>
          <a:ln w="12700">
            <a:solidFill>
              <a:srgbClr val="11111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854109" y="5172684"/>
            <a:ext cx="0" cy="400000"/>
          </a:xfrm>
          <a:prstGeom prst="line">
            <a:avLst/>
          </a:prstGeom>
          <a:ln w="12700">
            <a:solidFill>
              <a:srgbClr val="11111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54109" y="5872684"/>
            <a:ext cx="0" cy="400000"/>
          </a:xfrm>
          <a:prstGeom prst="line">
            <a:avLst/>
          </a:prstGeom>
          <a:ln w="12700">
            <a:solidFill>
              <a:srgbClr val="11111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854109" y="6572684"/>
            <a:ext cx="0" cy="400000"/>
          </a:xfrm>
          <a:prstGeom prst="line">
            <a:avLst/>
          </a:prstGeom>
          <a:ln w="12700">
            <a:solidFill>
              <a:srgbClr val="11111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854109" y="7272684"/>
            <a:ext cx="0" cy="400000"/>
          </a:xfrm>
          <a:prstGeom prst="line">
            <a:avLst/>
          </a:prstGeom>
          <a:ln w="12700">
            <a:solidFill>
              <a:srgbClr val="11111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Edge 8"/>
          <p:cNvGrpSpPr/>
          <p:nvPr/>
        </p:nvGrpSpPr>
        <p:grpSpPr>
          <a:xfrm>
            <a:off x="2454109" y="2572684"/>
            <a:ext cx="400000" cy="5800000"/>
            <a:chOff x="2454109" y="2572684"/>
            <a:chExt cx="400000" cy="5800000"/>
          </a:xfrm>
          <a:effectLst/>
        </p:grpSpPr>
        <p:cxnSp>
          <p:nvCxnSpPr>
            <p:cNvPr id="10" name="Connector 9"/>
            <p:cNvCxnSpPr/>
            <p:nvPr/>
          </p:nvCxnSpPr>
          <p:spPr>
            <a:xfrm>
              <a:off x="2854109" y="7972684"/>
              <a:ext cx="0" cy="350000"/>
            </a:xfrm>
            <a:prstGeom prst="line">
              <a:avLst/>
            </a:prstGeom>
            <a:ln w="12700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 flipH="1">
              <a:off x="2850984" y="8322684"/>
              <a:ext cx="3125" cy="21875"/>
            </a:xfrm>
            <a:prstGeom prst="line">
              <a:avLst/>
            </a:prstGeom>
            <a:ln w="12700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 flipH="1">
              <a:off x="2841609" y="8344559"/>
              <a:ext cx="9375" cy="15625"/>
            </a:xfrm>
            <a:prstGeom prst="line">
              <a:avLst/>
            </a:prstGeom>
            <a:ln w="12700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 flipH="1">
              <a:off x="2825984" y="8360184"/>
              <a:ext cx="15625" cy="9375"/>
            </a:xfrm>
            <a:prstGeom prst="line">
              <a:avLst/>
            </a:prstGeom>
            <a:ln w="12700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 flipH="1">
              <a:off x="2804109" y="8369559"/>
              <a:ext cx="21875" cy="3125"/>
            </a:xfrm>
            <a:prstGeom prst="line">
              <a:avLst/>
            </a:prstGeom>
            <a:ln w="12700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H="1">
              <a:off x="2504109" y="8372684"/>
              <a:ext cx="300000" cy="0"/>
            </a:xfrm>
            <a:prstGeom prst="line">
              <a:avLst/>
            </a:prstGeom>
            <a:ln w="12700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H="1" flipV="1">
              <a:off x="2482234" y="8369559"/>
              <a:ext cx="21875" cy="3125"/>
            </a:xfrm>
            <a:prstGeom prst="line">
              <a:avLst/>
            </a:prstGeom>
            <a:ln w="12700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H="1" flipV="1">
              <a:off x="2466609" y="8360184"/>
              <a:ext cx="15625" cy="9375"/>
            </a:xfrm>
            <a:prstGeom prst="line">
              <a:avLst/>
            </a:prstGeom>
            <a:ln w="12700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 flipH="1" flipV="1">
              <a:off x="2457234" y="8344559"/>
              <a:ext cx="9375" cy="15625"/>
            </a:xfrm>
            <a:prstGeom prst="line">
              <a:avLst/>
            </a:prstGeom>
            <a:ln w="12700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 flipH="1" flipV="1">
              <a:off x="2454109" y="8322684"/>
              <a:ext cx="3125" cy="21875"/>
            </a:xfrm>
            <a:prstGeom prst="line">
              <a:avLst/>
            </a:prstGeom>
            <a:ln w="12700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 flipV="1">
              <a:off x="2454109" y="2622684"/>
              <a:ext cx="0" cy="5700000"/>
            </a:xfrm>
            <a:prstGeom prst="line">
              <a:avLst/>
            </a:prstGeom>
            <a:ln w="12700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 flipV="1">
              <a:off x="2454109" y="2600809"/>
              <a:ext cx="3125" cy="21875"/>
            </a:xfrm>
            <a:prstGeom prst="line">
              <a:avLst/>
            </a:prstGeom>
            <a:ln w="12700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 flipV="1">
              <a:off x="2457234" y="2585184"/>
              <a:ext cx="9375" cy="15625"/>
            </a:xfrm>
            <a:prstGeom prst="line">
              <a:avLst/>
            </a:prstGeom>
            <a:ln w="12700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 flipV="1">
              <a:off x="2466609" y="2575809"/>
              <a:ext cx="15625" cy="9375"/>
            </a:xfrm>
            <a:prstGeom prst="line">
              <a:avLst/>
            </a:prstGeom>
            <a:ln w="12700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 flipV="1">
              <a:off x="2482234" y="2572684"/>
              <a:ext cx="21875" cy="3125"/>
            </a:xfrm>
            <a:prstGeom prst="line">
              <a:avLst/>
            </a:prstGeom>
            <a:ln w="12700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2504109" y="2572684"/>
              <a:ext cx="300000" cy="0"/>
            </a:xfrm>
            <a:prstGeom prst="line">
              <a:avLst/>
            </a:prstGeom>
            <a:ln w="12700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2804109" y="2572684"/>
              <a:ext cx="21875" cy="3125"/>
            </a:xfrm>
            <a:prstGeom prst="line">
              <a:avLst/>
            </a:prstGeom>
            <a:ln w="12700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2825984" y="2575809"/>
              <a:ext cx="15625" cy="9375"/>
            </a:xfrm>
            <a:prstGeom prst="line">
              <a:avLst/>
            </a:prstGeom>
            <a:ln w="12700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2841609" y="2585184"/>
              <a:ext cx="9375" cy="15625"/>
            </a:xfrm>
            <a:prstGeom prst="line">
              <a:avLst/>
            </a:prstGeom>
            <a:ln w="12700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2850984" y="2600809"/>
              <a:ext cx="3125" cy="21875"/>
            </a:xfrm>
            <a:prstGeom prst="line">
              <a:avLst/>
            </a:prstGeom>
            <a:ln w="12700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2854109" y="2622684"/>
              <a:ext cx="0" cy="150000"/>
            </a:xfrm>
            <a:prstGeom prst="line">
              <a:avLst/>
            </a:prstGeom>
            <a:ln w="12700">
              <a:solidFill>
                <a:srgbClr val="11111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ounded Rectangle 31"/>
          <p:cNvSpPr/>
          <p:nvPr/>
        </p:nvSpPr>
        <p:spPr>
          <a:xfrm>
            <a:off x="2654109" y="2772684"/>
            <a:ext cx="400000" cy="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>
            <a:normAutofit/>
          </a:bodyPr>
          <a:lstStyle/>
          <a:p>
            <a:pPr algn="ctr">
              <a:defRPr sz="1400" b="1" i="0">
                <a:solidFill>
                  <a:srgbClr val="111111"/>
                </a:solidFill>
                <a:latin typeface="標楷體"/>
              </a:defRPr>
            </a:pPr>
            <a:r>
              <a:rPr dirty="0" sz="1400"/>
              <a:t>1</a:t>
            </a:r>
            <a:endParaRPr dirty="0" sz="1400"/>
          </a:p>
        </p:txBody>
      </p:sp>
      <p:sp>
        <p:nvSpPr>
          <p:cNvPr id="33" name="Rounded Rectangle 32"/>
          <p:cNvSpPr/>
          <p:nvPr/>
        </p:nvSpPr>
        <p:spPr>
          <a:xfrm>
            <a:off x="2679109" y="2797684"/>
            <a:ext cx="350000" cy="250000"/>
          </a:xfrm>
          <a:prstGeom prst="roundRect">
            <a:avLst/>
          </a:prstGeom>
          <a:noFill/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654109" y="3472684"/>
            <a:ext cx="400000" cy="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>
            <a:normAutofit/>
          </a:bodyPr>
          <a:lstStyle/>
          <a:p>
            <a:pPr algn="ctr">
              <a:defRPr sz="1400" b="1" i="0">
                <a:solidFill>
                  <a:srgbClr val="111111"/>
                </a:solidFill>
                <a:latin typeface="標楷體"/>
              </a:defRPr>
            </a:pPr>
            <a:r>
              <a:rPr dirty="0" sz="1400"/>
              <a:t>2</a:t>
            </a:r>
            <a:endParaRPr dirty="0" sz="1400"/>
          </a:p>
        </p:txBody>
      </p:sp>
      <p:sp>
        <p:nvSpPr>
          <p:cNvPr id="35" name="Rounded Rectangle 34"/>
          <p:cNvSpPr/>
          <p:nvPr/>
        </p:nvSpPr>
        <p:spPr>
          <a:xfrm>
            <a:off x="2654109" y="4172684"/>
            <a:ext cx="400000" cy="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>
            <a:normAutofit/>
          </a:bodyPr>
          <a:lstStyle/>
          <a:p>
            <a:pPr algn="ctr">
              <a:defRPr sz="1400" b="1" i="0">
                <a:solidFill>
                  <a:srgbClr val="111111"/>
                </a:solidFill>
                <a:latin typeface="標楷體"/>
              </a:defRPr>
            </a:pPr>
            <a:r>
              <a:rPr dirty="0" sz="1400"/>
              <a:t>3</a:t>
            </a:r>
            <a:endParaRPr dirty="0" sz="1400"/>
          </a:p>
        </p:txBody>
      </p:sp>
      <p:sp>
        <p:nvSpPr>
          <p:cNvPr id="36" name="Rounded Rectangle 35"/>
          <p:cNvSpPr/>
          <p:nvPr/>
        </p:nvSpPr>
        <p:spPr>
          <a:xfrm>
            <a:off x="2654109" y="4872684"/>
            <a:ext cx="400000" cy="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>
            <a:normAutofit/>
          </a:bodyPr>
          <a:lstStyle/>
          <a:p>
            <a:pPr algn="ctr">
              <a:defRPr sz="1400" b="1" i="0">
                <a:solidFill>
                  <a:srgbClr val="111111"/>
                </a:solidFill>
                <a:latin typeface="標楷體"/>
              </a:defRPr>
            </a:pPr>
            <a:r>
              <a:rPr dirty="0" sz="1400"/>
              <a:t>4</a:t>
            </a:r>
            <a:endParaRPr dirty="0" sz="1400"/>
          </a:p>
        </p:txBody>
      </p:sp>
      <p:sp>
        <p:nvSpPr>
          <p:cNvPr id="37" name="Rounded Rectangle 36"/>
          <p:cNvSpPr/>
          <p:nvPr/>
        </p:nvSpPr>
        <p:spPr>
          <a:xfrm>
            <a:off x="2654109" y="5572684"/>
            <a:ext cx="400000" cy="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>
            <a:normAutofit/>
          </a:bodyPr>
          <a:lstStyle/>
          <a:p>
            <a:pPr algn="ctr">
              <a:defRPr sz="1400" b="1" i="0">
                <a:solidFill>
                  <a:srgbClr val="111111"/>
                </a:solidFill>
                <a:latin typeface="標楷體"/>
              </a:defRPr>
            </a:pPr>
            <a:r>
              <a:rPr dirty="0" sz="1400"/>
              <a:t>5</a:t>
            </a:r>
            <a:endParaRPr dirty="0" sz="1400"/>
          </a:p>
        </p:txBody>
      </p:sp>
      <p:sp>
        <p:nvSpPr>
          <p:cNvPr id="38" name="Rounded Rectangle 37"/>
          <p:cNvSpPr/>
          <p:nvPr/>
        </p:nvSpPr>
        <p:spPr>
          <a:xfrm>
            <a:off x="2654109" y="6272684"/>
            <a:ext cx="400000" cy="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>
            <a:normAutofit/>
          </a:bodyPr>
          <a:lstStyle/>
          <a:p>
            <a:pPr algn="ctr">
              <a:defRPr sz="1400" b="1" i="0">
                <a:solidFill>
                  <a:srgbClr val="111111"/>
                </a:solidFill>
                <a:latin typeface="標楷體"/>
              </a:defRPr>
            </a:pPr>
            <a:r>
              <a:rPr dirty="0" sz="1400"/>
              <a:t>6</a:t>
            </a:r>
            <a:endParaRPr dirty="0" sz="1400"/>
          </a:p>
        </p:txBody>
      </p:sp>
      <p:sp>
        <p:nvSpPr>
          <p:cNvPr id="39" name="Rounded Rectangle 38"/>
          <p:cNvSpPr/>
          <p:nvPr/>
        </p:nvSpPr>
        <p:spPr>
          <a:xfrm>
            <a:off x="2654109" y="6972684"/>
            <a:ext cx="400000" cy="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>
            <a:normAutofit/>
          </a:bodyPr>
          <a:lstStyle/>
          <a:p>
            <a:pPr algn="ctr">
              <a:defRPr sz="1400" b="1" i="0">
                <a:solidFill>
                  <a:srgbClr val="111111"/>
                </a:solidFill>
                <a:latin typeface="標楷體"/>
              </a:defRPr>
            </a:pPr>
            <a:r>
              <a:rPr dirty="0" sz="1400"/>
              <a:t>7</a:t>
            </a:r>
            <a:endParaRPr dirty="0" sz="1400"/>
          </a:p>
        </p:txBody>
      </p:sp>
      <p:sp>
        <p:nvSpPr>
          <p:cNvPr id="40" name="Rounded Rectangle 39"/>
          <p:cNvSpPr/>
          <p:nvPr/>
        </p:nvSpPr>
        <p:spPr>
          <a:xfrm>
            <a:off x="2654109" y="7672684"/>
            <a:ext cx="400000" cy="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>
            <a:normAutofit/>
          </a:bodyPr>
          <a:lstStyle/>
          <a:p>
            <a:pPr algn="ctr">
              <a:defRPr sz="1400" b="1" i="0">
                <a:solidFill>
                  <a:srgbClr val="111111"/>
                </a:solidFill>
                <a:latin typeface="標楷體"/>
              </a:defRPr>
            </a:pPr>
            <a:r>
              <a:rPr dirty="0" sz="1400"/>
              <a:t>8</a:t>
            </a:r>
            <a:endParaRPr dirty="0" sz="1400"/>
          </a:p>
        </p:txBody>
      </p:sp>
      <p:cxnSp>
        <p:nvCxnSpPr>
          <p:cNvPr id="41" name="Connector 40"/>
          <p:cNvCxnSpPr/>
          <p:nvPr/>
        </p:nvCxnSpPr>
        <p:spPr>
          <a:xfrm>
            <a:off x="3054109" y="2922684"/>
            <a:ext cx="100000" cy="0"/>
          </a:xfrm>
          <a:prstGeom prst="line">
            <a:avLst/>
          </a:prstGeom>
          <a:ln w="127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3154109" y="2779684"/>
            <a:ext cx="1953871" cy="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>
            <a:normAutofit fontScale="38889" lnSpcReduction="20000"/>
          </a:bodyPr>
          <a:lstStyle/>
          <a:p>
            <a:pPr algn="ctr">
              <a:defRPr sz="1800" b="0" i="0">
                <a:solidFill>
                  <a:srgbClr val="111111"/>
                </a:solidFill>
                <a:latin typeface="標楷體"/>
              </a:defRPr>
            </a:pPr>
            <a:r>
              <a:rPr dirty="0" sz="1800"/>
              <a:t>讀就緒度羅 盤，選定下 一交付物</a:t>
            </a:r>
            <a:endParaRPr dirty="0" sz="1800"/>
          </a:p>
        </p:txBody>
      </p:sp>
      <p:cxnSp>
        <p:nvCxnSpPr>
          <p:cNvPr id="43" name="Connector 42"/>
          <p:cNvCxnSpPr/>
          <p:nvPr/>
        </p:nvCxnSpPr>
        <p:spPr>
          <a:xfrm>
            <a:off x="3054109" y="3622684"/>
            <a:ext cx="100000" cy="0"/>
          </a:xfrm>
          <a:prstGeom prst="line">
            <a:avLst/>
          </a:prstGeom>
          <a:ln w="127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3154109" y="3479684"/>
            <a:ext cx="1953871" cy="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>
            <a:normAutofit fontScale="42425" lnSpcReduction="20000"/>
          </a:bodyPr>
          <a:lstStyle/>
          <a:p>
            <a:pPr algn="ctr">
              <a:defRPr sz="1650" b="0" i="0">
                <a:solidFill>
                  <a:srgbClr val="111111"/>
                </a:solidFill>
                <a:latin typeface="標楷體"/>
              </a:defRPr>
            </a:pPr>
            <a:r>
              <a:rPr dirty="0" sz="1650"/>
              <a:t>需求釐清（ 向使用者反 問規格/決策）</a:t>
            </a:r>
            <a:endParaRPr dirty="0" sz="1650"/>
          </a:p>
        </p:txBody>
      </p:sp>
      <p:cxnSp>
        <p:nvCxnSpPr>
          <p:cNvPr id="45" name="Connector 44"/>
          <p:cNvCxnSpPr/>
          <p:nvPr/>
        </p:nvCxnSpPr>
        <p:spPr>
          <a:xfrm>
            <a:off x="3054109" y="4322684"/>
            <a:ext cx="100000" cy="0"/>
          </a:xfrm>
          <a:prstGeom prst="line">
            <a:avLst/>
          </a:prstGeom>
          <a:ln w="127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3154109" y="4179684"/>
            <a:ext cx="1953871" cy="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>
            <a:normAutofit fontScale="41177" lnSpcReduction="20000"/>
          </a:bodyPr>
          <a:lstStyle/>
          <a:p>
            <a:pPr algn="ctr">
              <a:defRPr sz="1700" b="0" i="0">
                <a:solidFill>
                  <a:srgbClr val="111111"/>
                </a:solidFill>
                <a:latin typeface="標楷體"/>
              </a:defRPr>
            </a:pPr>
            <a:r>
              <a:rPr dirty="0" sz="1700"/>
              <a:t>蒐集參考設 計證據（本 地語料優先）</a:t>
            </a:r>
            <a:endParaRPr dirty="0" sz="1700"/>
          </a:p>
        </p:txBody>
      </p:sp>
      <p:cxnSp>
        <p:nvCxnSpPr>
          <p:cNvPr id="47" name="Connector 46"/>
          <p:cNvCxnSpPr/>
          <p:nvPr/>
        </p:nvCxnSpPr>
        <p:spPr>
          <a:xfrm>
            <a:off x="3054109" y="5022684"/>
            <a:ext cx="100000" cy="0"/>
          </a:xfrm>
          <a:prstGeom prst="line">
            <a:avLst/>
          </a:prstGeom>
          <a:ln w="127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3154109" y="4879684"/>
            <a:ext cx="1953871" cy="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>
            <a:normAutofit fontScale="54070" lnSpcReduction="20000"/>
          </a:bodyPr>
          <a:lstStyle/>
          <a:p>
            <a:pPr algn="ctr">
              <a:defRPr sz="1650" b="0" i="0">
                <a:solidFill>
                  <a:srgbClr val="111111"/>
                </a:solidFill>
                <a:latin typeface="標楷體"/>
              </a:defRPr>
            </a:pPr>
            <a:r>
              <a:rPr dirty="0" sz="1650"/>
              <a:t>由 datasheet 採 集零件符號</a:t>
            </a:r>
            <a:endParaRPr dirty="0" sz="1650"/>
          </a:p>
        </p:txBody>
      </p:sp>
      <p:cxnSp>
        <p:nvCxnSpPr>
          <p:cNvPr id="49" name="Connector 48"/>
          <p:cNvCxnSpPr/>
          <p:nvPr/>
        </p:nvCxnSpPr>
        <p:spPr>
          <a:xfrm>
            <a:off x="3054109" y="5722684"/>
            <a:ext cx="100000" cy="0"/>
          </a:xfrm>
          <a:prstGeom prst="line">
            <a:avLst/>
          </a:prstGeom>
          <a:ln w="127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3154109" y="5579684"/>
            <a:ext cx="1953871" cy="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>
            <a:normAutofit fontScale="59477" lnSpcReduction="20000"/>
          </a:bodyPr>
          <a:lstStyle/>
          <a:p>
            <a:pPr algn="ctr">
              <a:defRPr sz="1500" b="0" i="0">
                <a:solidFill>
                  <a:srgbClr val="111111"/>
                </a:solidFill>
                <a:latin typeface="標楷體"/>
              </a:defRPr>
            </a:pPr>
            <a:r>
              <a:rPr dirty="0" sz="1500"/>
              <a:t>組成原理 圖並執行 kicad-cli ERC</a:t>
            </a:r>
            <a:endParaRPr dirty="0" sz="1500"/>
          </a:p>
        </p:txBody>
      </p:sp>
      <p:cxnSp>
        <p:nvCxnSpPr>
          <p:cNvPr id="51" name="Connector 50"/>
          <p:cNvCxnSpPr/>
          <p:nvPr/>
        </p:nvCxnSpPr>
        <p:spPr>
          <a:xfrm>
            <a:off x="3054109" y="6422684"/>
            <a:ext cx="100000" cy="0"/>
          </a:xfrm>
          <a:prstGeom prst="line">
            <a:avLst/>
          </a:prstGeom>
          <a:ln w="127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3154109" y="6279684"/>
            <a:ext cx="1953871" cy="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>
            <a:normAutofit fontScale="45162" lnSpcReduction="20000"/>
          </a:bodyPr>
          <a:lstStyle/>
          <a:p>
            <a:pPr algn="ctr">
              <a:defRPr sz="1550" b="0" i="0">
                <a:solidFill>
                  <a:srgbClr val="111111"/>
                </a:solidFill>
                <a:latin typeface="標楷體"/>
              </a:defRPr>
            </a:pPr>
            <a:r>
              <a:rPr dirty="0" sz="1550"/>
              <a:t>驗證：對照 組交叉檢核 ＋SPICE＋EMC</a:t>
            </a:r>
            <a:endParaRPr dirty="0" sz="1550"/>
          </a:p>
        </p:txBody>
      </p:sp>
      <p:cxnSp>
        <p:nvCxnSpPr>
          <p:cNvPr id="53" name="Connector 52"/>
          <p:cNvCxnSpPr/>
          <p:nvPr/>
        </p:nvCxnSpPr>
        <p:spPr>
          <a:xfrm>
            <a:off x="3054109" y="7122684"/>
            <a:ext cx="100000" cy="0"/>
          </a:xfrm>
          <a:prstGeom prst="line">
            <a:avLst/>
          </a:prstGeom>
          <a:ln w="127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3154109" y="6979684"/>
            <a:ext cx="1953871" cy="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>
            <a:normAutofit fontScale="45162" lnSpcReduction="20000"/>
          </a:bodyPr>
          <a:lstStyle/>
          <a:p>
            <a:pPr algn="ctr">
              <a:defRPr sz="1550" b="0" i="0">
                <a:solidFill>
                  <a:srgbClr val="111111"/>
                </a:solidFill>
                <a:latin typeface="標楷體"/>
              </a:defRPr>
            </a:pPr>
            <a:r>
              <a:rPr dirty="0" sz="1550"/>
              <a:t>佈局（ pcbnew+DRC） 並匯出製造檔</a:t>
            </a:r>
            <a:endParaRPr dirty="0" sz="1550"/>
          </a:p>
        </p:txBody>
      </p:sp>
      <p:cxnSp>
        <p:nvCxnSpPr>
          <p:cNvPr id="55" name="Connector 54"/>
          <p:cNvCxnSpPr/>
          <p:nvPr/>
        </p:nvCxnSpPr>
        <p:spPr>
          <a:xfrm>
            <a:off x="3054109" y="7822684"/>
            <a:ext cx="100000" cy="0"/>
          </a:xfrm>
          <a:prstGeom prst="line">
            <a:avLst/>
          </a:prstGeom>
          <a:ln w="127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3154109" y="7679684"/>
            <a:ext cx="1953871" cy="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>
            <a:normAutofit fontScale="44608" lnSpcReduction="20000"/>
          </a:bodyPr>
          <a:lstStyle/>
          <a:p>
            <a:pPr algn="ctr">
              <a:defRPr sz="2000" b="0" i="0">
                <a:solidFill>
                  <a:srgbClr val="111111"/>
                </a:solidFill>
                <a:latin typeface="標楷體"/>
              </a:defRPr>
            </a:pPr>
            <a:r>
              <a:rPr dirty="0" sz="2000"/>
              <a:t>產出文件＋更 新就緒度羅盤</a:t>
            </a:r>
            <a:endParaRPr dirty="0" sz="2000"/>
          </a:p>
        </p:txBody>
      </p:sp>
      <p:cxnSp>
        <p:nvCxnSpPr>
          <p:cNvPr id="57" name="Connector 56"/>
          <p:cNvCxnSpPr/>
          <p:nvPr/>
        </p:nvCxnSpPr>
        <p:spPr>
          <a:xfrm>
            <a:off x="2754109" y="3272684"/>
            <a:ext cx="200000" cy="0"/>
          </a:xfrm>
          <a:prstGeom prst="line">
            <a:avLst/>
          </a:prstGeom>
          <a:ln w="127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954109" y="3148859"/>
            <a:ext cx="1117566" cy="2476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rmAutofit/>
          </a:bodyPr>
          <a:lstStyle/>
          <a:p>
            <a:pPr algn="ctr">
              <a:defRPr sz="1400" b="0" i="1">
                <a:solidFill>
                  <a:srgbClr val="111111"/>
                </a:solidFill>
                <a:latin typeface="標楷體"/>
              </a:defRPr>
            </a:pPr>
            <a:r>
              <a:rPr dirty="0" sz="1400"/>
              <a:t>已選定下一交付物</a:t>
            </a:r>
            <a:endParaRPr dirty="0" sz="1400"/>
          </a:p>
        </p:txBody>
      </p:sp>
      <p:cxnSp>
        <p:nvCxnSpPr>
          <p:cNvPr id="59" name="Connector 58"/>
          <p:cNvCxnSpPr/>
          <p:nvPr/>
        </p:nvCxnSpPr>
        <p:spPr>
          <a:xfrm>
            <a:off x="2754109" y="3972684"/>
            <a:ext cx="200000" cy="0"/>
          </a:xfrm>
          <a:prstGeom prst="line">
            <a:avLst/>
          </a:prstGeom>
          <a:ln w="127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954109" y="3848859"/>
            <a:ext cx="907762" cy="2476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rmAutofit/>
          </a:bodyPr>
          <a:lstStyle/>
          <a:p>
            <a:pPr algn="ctr">
              <a:defRPr sz="1400" b="0" i="1">
                <a:solidFill>
                  <a:srgbClr val="111111"/>
                </a:solidFill>
                <a:latin typeface="標楷體"/>
              </a:defRPr>
            </a:pPr>
            <a:r>
              <a:rPr dirty="0" sz="1400"/>
              <a:t>規格與決策齊備</a:t>
            </a:r>
            <a:endParaRPr dirty="0" sz="1400"/>
          </a:p>
        </p:txBody>
      </p:sp>
      <p:cxnSp>
        <p:nvCxnSpPr>
          <p:cNvPr id="61" name="Connector 60"/>
          <p:cNvCxnSpPr/>
          <p:nvPr/>
        </p:nvCxnSpPr>
        <p:spPr>
          <a:xfrm>
            <a:off x="2754109" y="4672684"/>
            <a:ext cx="200000" cy="0"/>
          </a:xfrm>
          <a:prstGeom prst="line">
            <a:avLst/>
          </a:prstGeom>
          <a:ln w="127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2954109" y="4548859"/>
            <a:ext cx="1537174" cy="2476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rmAutofit/>
          </a:bodyPr>
          <a:lstStyle/>
          <a:p>
            <a:pPr algn="ctr">
              <a:defRPr sz="1400" b="0" i="1">
                <a:solidFill>
                  <a:srgbClr val="111111"/>
                </a:solidFill>
                <a:latin typeface="標楷體"/>
              </a:defRPr>
            </a:pPr>
            <a:r>
              <a:rPr dirty="0" sz="1400"/>
              <a:t>零件已對應到參考設計</a:t>
            </a:r>
            <a:endParaRPr dirty="0" sz="1400"/>
          </a:p>
        </p:txBody>
      </p:sp>
      <p:cxnSp>
        <p:nvCxnSpPr>
          <p:cNvPr id="63" name="Connector 62"/>
          <p:cNvCxnSpPr/>
          <p:nvPr/>
        </p:nvCxnSpPr>
        <p:spPr>
          <a:xfrm>
            <a:off x="2754109" y="5372684"/>
            <a:ext cx="200000" cy="0"/>
          </a:xfrm>
          <a:prstGeom prst="line">
            <a:avLst/>
          </a:prstGeom>
          <a:ln w="127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954109" y="5248859"/>
            <a:ext cx="697958" cy="2476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rmAutofit/>
          </a:bodyPr>
          <a:lstStyle/>
          <a:p>
            <a:pPr algn="ctr">
              <a:defRPr sz="1400" b="0" i="1">
                <a:solidFill>
                  <a:srgbClr val="111111"/>
                </a:solidFill>
                <a:latin typeface="標楷體"/>
              </a:defRPr>
            </a:pPr>
            <a:r>
              <a:rPr dirty="0" sz="1400"/>
              <a:t>所需符號齊備</a:t>
            </a:r>
            <a:endParaRPr dirty="0" sz="1400"/>
          </a:p>
        </p:txBody>
      </p:sp>
      <p:cxnSp>
        <p:nvCxnSpPr>
          <p:cNvPr id="65" name="Connector 64"/>
          <p:cNvCxnSpPr/>
          <p:nvPr/>
        </p:nvCxnSpPr>
        <p:spPr>
          <a:xfrm>
            <a:off x="2754109" y="6072684"/>
            <a:ext cx="200000" cy="0"/>
          </a:xfrm>
          <a:prstGeom prst="line">
            <a:avLst/>
          </a:prstGeom>
          <a:ln w="127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2954109" y="5948859"/>
            <a:ext cx="364370" cy="2476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rmAutofit/>
          </a:bodyPr>
          <a:lstStyle/>
          <a:p>
            <a:pPr algn="ctr">
              <a:defRPr sz="1400" b="0" i="1">
                <a:solidFill>
                  <a:srgbClr val="111111"/>
                </a:solidFill>
                <a:latin typeface="標楷體"/>
              </a:defRPr>
            </a:pPr>
            <a:r>
              <a:rPr dirty="0" sz="1400"/>
              <a:t>ERC 乾淨</a:t>
            </a:r>
            <a:endParaRPr dirty="0" sz="1400"/>
          </a:p>
        </p:txBody>
      </p:sp>
      <p:cxnSp>
        <p:nvCxnSpPr>
          <p:cNvPr id="67" name="Connector 66"/>
          <p:cNvCxnSpPr/>
          <p:nvPr/>
        </p:nvCxnSpPr>
        <p:spPr>
          <a:xfrm>
            <a:off x="2754109" y="6772684"/>
            <a:ext cx="200000" cy="0"/>
          </a:xfrm>
          <a:prstGeom prst="line">
            <a:avLst/>
          </a:prstGeom>
          <a:ln w="127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954109" y="6648859"/>
            <a:ext cx="1537174" cy="2476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rmAutofit/>
          </a:bodyPr>
          <a:lstStyle/>
          <a:p>
            <a:pPr algn="ctr">
              <a:defRPr sz="1400" b="0" i="1">
                <a:solidFill>
                  <a:srgbClr val="111111"/>
                </a:solidFill>
                <a:latin typeface="標楷體"/>
              </a:defRPr>
            </a:pPr>
            <a:r>
              <a:rPr dirty="0" sz="1400"/>
              <a:t>覆蓋率達標且分析通過</a:t>
            </a:r>
            <a:endParaRPr dirty="0" sz="1400"/>
          </a:p>
        </p:txBody>
      </p:sp>
      <p:cxnSp>
        <p:nvCxnSpPr>
          <p:cNvPr id="69" name="Connector 68"/>
          <p:cNvCxnSpPr/>
          <p:nvPr/>
        </p:nvCxnSpPr>
        <p:spPr>
          <a:xfrm>
            <a:off x="2754109" y="7472684"/>
            <a:ext cx="200000" cy="0"/>
          </a:xfrm>
          <a:prstGeom prst="line">
            <a:avLst/>
          </a:prstGeom>
          <a:ln w="127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954109" y="7348859"/>
            <a:ext cx="1705017" cy="2476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rmAutofit/>
          </a:bodyPr>
          <a:lstStyle/>
          <a:p>
            <a:pPr algn="ctr">
              <a:defRPr sz="1400" b="0" i="1">
                <a:solidFill>
                  <a:srgbClr val="111111"/>
                </a:solidFill>
                <a:latin typeface="標楷體"/>
              </a:defRPr>
            </a:pPr>
            <a:r>
              <a:rPr dirty="0" sz="1400"/>
              <a:t>DRC 乾淨且 fab 已匯出</a:t>
            </a:r>
            <a:endParaRPr dirty="0" sz="1400"/>
          </a:p>
        </p:txBody>
      </p:sp>
      <p:cxnSp>
        <p:nvCxnSpPr>
          <p:cNvPr id="71" name="Connector 70"/>
          <p:cNvCxnSpPr/>
          <p:nvPr/>
        </p:nvCxnSpPr>
        <p:spPr>
          <a:xfrm>
            <a:off x="2754109" y="8172684"/>
            <a:ext cx="200000" cy="0"/>
          </a:xfrm>
          <a:prstGeom prst="line">
            <a:avLst/>
          </a:prstGeom>
          <a:ln w="1270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2954109" y="8080609"/>
            <a:ext cx="982692" cy="1841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rmAutofit fontScale="54348" lnSpcReduction="20000"/>
          </a:bodyPr>
          <a:lstStyle/>
          <a:p>
            <a:pPr algn="ctr">
              <a:defRPr sz="1400" b="0" i="1">
                <a:solidFill>
                  <a:srgbClr val="111111"/>
                </a:solidFill>
                <a:latin typeface="標楷體"/>
              </a:defRPr>
            </a:pPr>
            <a:r>
              <a:rPr dirty="0" sz="1400"/>
              <a:t>未可送廠 → 進入下一輪</a:t>
            </a:r>
            <a:endParaRPr dirty="0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