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0049256" cy="256032"/>
          </a:xfrm>
          <a:prstGeom prst="rect">
            <a:avLst/>
          </a:prstGeom>
          <a:noFill/>
          <a:effectLst/>
        </p:spPr>
        <p:txBody>
          <a:bodyPr wrap="none">
            <a:normAutofit/>
          </a:bodyPr>
          <a:lstStyle/>
          <a:p>
            <a:r>
              <a:rPr sz="1400" b="1" dirty="0" kern="0" spc="0">
                <a:latin typeface="標楷體"/>
              </a:rPr>
              <a:t>1. diagram_A0.svg</a:t>
            </a:r>
            <a:endParaRPr dirty="0" sz="1400" kern="0" spc="0"/>
          </a:p>
        </p:txBody>
      </p:sp>
      <p:sp>
        <p:nvSpPr>
          <p:cNvPr id="3" name="Rectangle 2"/>
          <p:cNvSpPr/>
          <p:nvPr/>
        </p:nvSpPr>
        <p:spPr>
          <a:xfrm>
            <a:off x="1900972" y="2832708"/>
            <a:ext cx="1232312" cy="131563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A1</a:t>
            </a:r>
          </a:p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匯入專案與 需求規劃</a:t>
            </a:r>
          </a:p>
        </p:txBody>
      </p:sp>
      <p:sp>
        <p:nvSpPr>
          <p:cNvPr id="4" name="Rectangle 3"/>
          <p:cNvSpPr/>
          <p:nvPr/>
        </p:nvSpPr>
        <p:spPr>
          <a:xfrm>
            <a:off x="3995902" y="2832708"/>
            <a:ext cx="1232312" cy="131563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A2</a:t>
            </a:r>
          </a:p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蒐集參考 設計證據</a:t>
            </a:r>
          </a:p>
        </p:txBody>
      </p:sp>
      <p:sp>
        <p:nvSpPr>
          <p:cNvPr id="5" name="Rectangle 4"/>
          <p:cNvSpPr/>
          <p:nvPr/>
        </p:nvSpPr>
        <p:spPr>
          <a:xfrm>
            <a:off x="6183256" y="2832708"/>
            <a:ext cx="1232312" cy="131563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A3</a:t>
            </a:r>
          </a:p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產生符號 與原理圖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0972" y="5299519"/>
            <a:ext cx="1232312" cy="131563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A4</a:t>
            </a:r>
          </a:p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佈局與製造輸出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3995902" y="5299519"/>
            <a:ext cx="1232312" cy="131563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A5</a:t>
            </a:r>
          </a:p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驗證（ERC/DRC・對 照組・SPICE・EMC）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3256" y="5299519"/>
            <a:ext cx="1232312" cy="131563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A6</a:t>
            </a:r>
          </a:p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文件產出與 就緒度追蹤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6432" y="2174892"/>
            <a:ext cx="6870140" cy="5112876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3078" y="530352"/>
            <a:ext cx="2396847" cy="904497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>
            <a:normAutofit/>
          </a:bodyPr>
          <a:lstStyle/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A0</a:t>
            </a:r>
          </a:p>
          <a:p>
            <a:pPr algn="ctr">
              <a:defRPr sz="1000" b="1" i="0">
                <a:solidFill>
                  <a:srgbClr val="111111"/>
                </a:solidFill>
                <a:latin typeface="標楷體"/>
              </a:defRPr>
            </a:pPr>
            <a:r>
              <a:t>BODESIGN：AI 電路設計 MCP 功能分解（IDEF0）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346432" y="530352"/>
            <a:ext cx="2236646" cy="1644540"/>
          </a:xfrm>
          <a:prstGeom prst="line">
            <a:avLst/>
          </a:prstGeom>
          <a:ln w="19050">
            <a:solidFill>
              <a:srgbClr val="FF0000">
                <a:alpha val="3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79925" y="530352"/>
            <a:ext cx="2236646" cy="1644540"/>
          </a:xfrm>
          <a:prstGeom prst="line">
            <a:avLst/>
          </a:prstGeom>
          <a:ln w="19050">
            <a:solidFill>
              <a:srgbClr val="FF0000">
                <a:alpha val="3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346432" y="1434849"/>
            <a:ext cx="2236646" cy="5852919"/>
          </a:xfrm>
          <a:prstGeom prst="line">
            <a:avLst/>
          </a:prstGeom>
          <a:ln w="19050">
            <a:solidFill>
              <a:srgbClr val="FF0000">
                <a:alpha val="3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79925" y="1434849"/>
            <a:ext cx="2236646" cy="5852919"/>
          </a:xfrm>
          <a:prstGeom prst="line">
            <a:avLst/>
          </a:prstGeom>
          <a:ln w="19050">
            <a:solidFill>
              <a:srgbClr val="FF0000">
                <a:alpha val="30000"/>
              </a:srgbClr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133284" y="3710071"/>
            <a:ext cx="862618" cy="0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228215" y="3490524"/>
            <a:ext cx="955041" cy="0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33284" y="5957335"/>
            <a:ext cx="862618" cy="0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228215" y="5957335"/>
            <a:ext cx="955041" cy="0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Edge 5"/>
          <p:cNvGrpSpPr/>
          <p:nvPr/>
        </p:nvGrpSpPr>
        <p:grpSpPr>
          <a:xfrm>
            <a:off x="1654510" y="3710071"/>
            <a:ext cx="6007521" cy="2247264"/>
            <a:chOff x="1654510" y="3710071"/>
            <a:chExt cx="6007521" cy="2247264"/>
          </a:xfrm>
          <a:effectLst/>
        </p:grpSpPr>
        <p:cxnSp>
          <p:nvCxnSpPr>
            <p:cNvPr id="19" name="Connector 18"/>
            <p:cNvCxnSpPr/>
            <p:nvPr/>
          </p:nvCxnSpPr>
          <p:spPr>
            <a:xfrm>
              <a:off x="7415568" y="3710071"/>
              <a:ext cx="184847" cy="0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9"/>
            <p:cNvCxnSpPr/>
            <p:nvPr/>
          </p:nvCxnSpPr>
          <p:spPr>
            <a:xfrm>
              <a:off x="7600415" y="3710071"/>
              <a:ext cx="26957" cy="513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7627372" y="3715210"/>
              <a:ext cx="19255" cy="15417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7646627" y="3730627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7658180" y="3756323"/>
              <a:ext cx="3851" cy="35975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7662031" y="3792298"/>
              <a:ext cx="0" cy="684951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 flipH="1">
              <a:off x="7658180" y="4477249"/>
              <a:ext cx="3851" cy="35974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 flipH="1">
              <a:off x="7646627" y="4513223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26"/>
            <p:cNvCxnSpPr/>
            <p:nvPr/>
          </p:nvCxnSpPr>
          <p:spPr>
            <a:xfrm flipH="1">
              <a:off x="7627372" y="4538919"/>
              <a:ext cx="19255" cy="15417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 flipH="1">
              <a:off x="7600415" y="4554336"/>
              <a:ext cx="26957" cy="5140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 flipH="1">
              <a:off x="1716125" y="4559476"/>
              <a:ext cx="5884290" cy="0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H="1">
              <a:off x="1689168" y="4559476"/>
              <a:ext cx="26957" cy="513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 flipH="1">
              <a:off x="1669913" y="4564615"/>
              <a:ext cx="19255" cy="15417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H="1">
              <a:off x="1658360" y="4580032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H="1">
              <a:off x="1654510" y="4605728"/>
              <a:ext cx="3850" cy="35975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1654510" y="4641703"/>
              <a:ext cx="0" cy="1233405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1654510" y="5875108"/>
              <a:ext cx="3850" cy="35974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>
              <a:off x="1658360" y="5911082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1669913" y="5936778"/>
              <a:ext cx="19255" cy="15418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1689168" y="5952196"/>
              <a:ext cx="26957" cy="513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or 38"/>
            <p:cNvCxnSpPr/>
            <p:nvPr/>
          </p:nvCxnSpPr>
          <p:spPr>
            <a:xfrm>
              <a:off x="1716125" y="5957335"/>
              <a:ext cx="184847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Edge 6"/>
          <p:cNvGrpSpPr/>
          <p:nvPr/>
        </p:nvGrpSpPr>
        <p:grpSpPr>
          <a:xfrm>
            <a:off x="3564593" y="3270978"/>
            <a:ext cx="4343900" cy="2357449"/>
            <a:chOff x="3564593" y="3270978"/>
            <a:chExt cx="4343900" cy="2357449"/>
          </a:xfrm>
          <a:effectLst/>
        </p:grpSpPr>
        <p:cxnSp>
          <p:nvCxnSpPr>
            <p:cNvPr id="41" name="Connector 40"/>
            <p:cNvCxnSpPr/>
            <p:nvPr/>
          </p:nvCxnSpPr>
          <p:spPr>
            <a:xfrm>
              <a:off x="7415568" y="3270978"/>
              <a:ext cx="431310" cy="0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ctor 41"/>
            <p:cNvCxnSpPr/>
            <p:nvPr/>
          </p:nvCxnSpPr>
          <p:spPr>
            <a:xfrm>
              <a:off x="7846878" y="3270978"/>
              <a:ext cx="26956" cy="5140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7873834" y="3276118"/>
              <a:ext cx="19255" cy="15417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7893089" y="3291535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904642" y="3317231"/>
              <a:ext cx="3851" cy="35974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>
              <a:off x="7908493" y="3353205"/>
              <a:ext cx="0" cy="1452952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 flipH="1">
              <a:off x="7904642" y="4806157"/>
              <a:ext cx="3851" cy="35974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 47"/>
            <p:cNvCxnSpPr/>
            <p:nvPr/>
          </p:nvCxnSpPr>
          <p:spPr>
            <a:xfrm flipH="1">
              <a:off x="7893089" y="4842131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 48"/>
            <p:cNvCxnSpPr/>
            <p:nvPr/>
          </p:nvCxnSpPr>
          <p:spPr>
            <a:xfrm flipH="1">
              <a:off x="7873834" y="4867827"/>
              <a:ext cx="19255" cy="15418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 49"/>
            <p:cNvCxnSpPr/>
            <p:nvPr/>
          </p:nvCxnSpPr>
          <p:spPr>
            <a:xfrm flipH="1">
              <a:off x="7846878" y="4883245"/>
              <a:ext cx="26956" cy="513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ctor 50"/>
            <p:cNvCxnSpPr/>
            <p:nvPr/>
          </p:nvCxnSpPr>
          <p:spPr>
            <a:xfrm flipH="1">
              <a:off x="3626209" y="4888384"/>
              <a:ext cx="4220669" cy="0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or 51"/>
            <p:cNvCxnSpPr/>
            <p:nvPr/>
          </p:nvCxnSpPr>
          <p:spPr>
            <a:xfrm flipH="1">
              <a:off x="3599252" y="4888384"/>
              <a:ext cx="26957" cy="513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 52"/>
            <p:cNvCxnSpPr/>
            <p:nvPr/>
          </p:nvCxnSpPr>
          <p:spPr>
            <a:xfrm flipH="1">
              <a:off x="3579997" y="4893523"/>
              <a:ext cx="19255" cy="15417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nector 53"/>
            <p:cNvCxnSpPr/>
            <p:nvPr/>
          </p:nvCxnSpPr>
          <p:spPr>
            <a:xfrm flipH="1">
              <a:off x="3568444" y="4908940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or 54"/>
            <p:cNvCxnSpPr/>
            <p:nvPr/>
          </p:nvCxnSpPr>
          <p:spPr>
            <a:xfrm flipH="1">
              <a:off x="3564593" y="4934636"/>
              <a:ext cx="3851" cy="35975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 55"/>
            <p:cNvCxnSpPr/>
            <p:nvPr/>
          </p:nvCxnSpPr>
          <p:spPr>
            <a:xfrm>
              <a:off x="3564593" y="4970611"/>
              <a:ext cx="0" cy="57558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or 56"/>
            <p:cNvCxnSpPr/>
            <p:nvPr/>
          </p:nvCxnSpPr>
          <p:spPr>
            <a:xfrm>
              <a:off x="3564593" y="5546200"/>
              <a:ext cx="3851" cy="35974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or 57"/>
            <p:cNvCxnSpPr/>
            <p:nvPr/>
          </p:nvCxnSpPr>
          <p:spPr>
            <a:xfrm>
              <a:off x="3568444" y="5582174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 58"/>
            <p:cNvCxnSpPr/>
            <p:nvPr/>
          </p:nvCxnSpPr>
          <p:spPr>
            <a:xfrm>
              <a:off x="3579997" y="5607870"/>
              <a:ext cx="19255" cy="15418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3599252" y="5623288"/>
              <a:ext cx="26957" cy="513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60"/>
            <p:cNvCxnSpPr/>
            <p:nvPr/>
          </p:nvCxnSpPr>
          <p:spPr>
            <a:xfrm>
              <a:off x="3626209" y="5628427"/>
              <a:ext cx="369693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" name="Connector 62"/>
          <p:cNvCxnSpPr/>
          <p:nvPr/>
        </p:nvCxnSpPr>
        <p:spPr>
          <a:xfrm>
            <a:off x="1038353" y="3490524"/>
            <a:ext cx="862619" cy="0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5" name="Edge 8"/>
          <p:cNvGrpSpPr/>
          <p:nvPr/>
        </p:nvGrpSpPr>
        <p:grpSpPr>
          <a:xfrm>
            <a:off x="1038353" y="2503800"/>
            <a:ext cx="2957549" cy="767178"/>
            <a:chOff x="1038353" y="2503800"/>
            <a:chExt cx="2957549" cy="767178"/>
          </a:xfrm>
          <a:effectLst/>
        </p:grpSpPr>
        <p:cxnSp>
          <p:nvCxnSpPr>
            <p:cNvPr id="64" name="Connector 63"/>
            <p:cNvCxnSpPr/>
            <p:nvPr/>
          </p:nvCxnSpPr>
          <p:spPr>
            <a:xfrm>
              <a:off x="1038353" y="2503800"/>
              <a:ext cx="2464625" cy="0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 64"/>
            <p:cNvCxnSpPr/>
            <p:nvPr/>
          </p:nvCxnSpPr>
          <p:spPr>
            <a:xfrm>
              <a:off x="3502978" y="2503800"/>
              <a:ext cx="26956" cy="5140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or 65"/>
            <p:cNvCxnSpPr/>
            <p:nvPr/>
          </p:nvCxnSpPr>
          <p:spPr>
            <a:xfrm>
              <a:off x="3529934" y="2508940"/>
              <a:ext cx="19255" cy="15417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 66"/>
            <p:cNvCxnSpPr/>
            <p:nvPr/>
          </p:nvCxnSpPr>
          <p:spPr>
            <a:xfrm>
              <a:off x="3549189" y="2524357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Connector 67"/>
            <p:cNvCxnSpPr/>
            <p:nvPr/>
          </p:nvCxnSpPr>
          <p:spPr>
            <a:xfrm>
              <a:off x="3560742" y="2550053"/>
              <a:ext cx="3851" cy="35974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 68"/>
            <p:cNvCxnSpPr/>
            <p:nvPr/>
          </p:nvCxnSpPr>
          <p:spPr>
            <a:xfrm>
              <a:off x="3564593" y="2586027"/>
              <a:ext cx="0" cy="602724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 69"/>
            <p:cNvCxnSpPr/>
            <p:nvPr/>
          </p:nvCxnSpPr>
          <p:spPr>
            <a:xfrm>
              <a:off x="3564593" y="3188751"/>
              <a:ext cx="3851" cy="35975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Connector 70"/>
            <p:cNvCxnSpPr/>
            <p:nvPr/>
          </p:nvCxnSpPr>
          <p:spPr>
            <a:xfrm>
              <a:off x="3568444" y="3224726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nector 71"/>
            <p:cNvCxnSpPr/>
            <p:nvPr/>
          </p:nvCxnSpPr>
          <p:spPr>
            <a:xfrm>
              <a:off x="3579997" y="3250422"/>
              <a:ext cx="19255" cy="15417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or 72"/>
            <p:cNvCxnSpPr/>
            <p:nvPr/>
          </p:nvCxnSpPr>
          <p:spPr>
            <a:xfrm>
              <a:off x="3599252" y="3265839"/>
              <a:ext cx="26957" cy="513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Connector 73"/>
            <p:cNvCxnSpPr/>
            <p:nvPr/>
          </p:nvCxnSpPr>
          <p:spPr>
            <a:xfrm>
              <a:off x="3626209" y="3270978"/>
              <a:ext cx="369693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Edge 9"/>
          <p:cNvGrpSpPr/>
          <p:nvPr/>
        </p:nvGrpSpPr>
        <p:grpSpPr>
          <a:xfrm>
            <a:off x="3133284" y="6286243"/>
            <a:ext cx="5391365" cy="672617"/>
            <a:chOff x="3133284" y="6286243"/>
            <a:chExt cx="5391365" cy="672617"/>
          </a:xfrm>
          <a:effectLst/>
        </p:grpSpPr>
        <p:cxnSp>
          <p:nvCxnSpPr>
            <p:cNvPr id="76" name="Connector 75"/>
            <p:cNvCxnSpPr/>
            <p:nvPr/>
          </p:nvCxnSpPr>
          <p:spPr>
            <a:xfrm>
              <a:off x="3133284" y="6286243"/>
              <a:ext cx="369694" cy="0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or 76"/>
            <p:cNvCxnSpPr/>
            <p:nvPr/>
          </p:nvCxnSpPr>
          <p:spPr>
            <a:xfrm>
              <a:off x="3502978" y="6286243"/>
              <a:ext cx="26956" cy="513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nector 77"/>
            <p:cNvCxnSpPr/>
            <p:nvPr/>
          </p:nvCxnSpPr>
          <p:spPr>
            <a:xfrm>
              <a:off x="3529934" y="6291382"/>
              <a:ext cx="19255" cy="15418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nector 78"/>
            <p:cNvCxnSpPr/>
            <p:nvPr/>
          </p:nvCxnSpPr>
          <p:spPr>
            <a:xfrm>
              <a:off x="3549189" y="6306800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nector 79"/>
            <p:cNvCxnSpPr/>
            <p:nvPr/>
          </p:nvCxnSpPr>
          <p:spPr>
            <a:xfrm>
              <a:off x="3560742" y="6332496"/>
              <a:ext cx="3851" cy="35974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nector 80"/>
            <p:cNvCxnSpPr/>
            <p:nvPr/>
          </p:nvCxnSpPr>
          <p:spPr>
            <a:xfrm>
              <a:off x="3564593" y="6368470"/>
              <a:ext cx="0" cy="508163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or 81"/>
            <p:cNvCxnSpPr/>
            <p:nvPr/>
          </p:nvCxnSpPr>
          <p:spPr>
            <a:xfrm>
              <a:off x="3564593" y="6876633"/>
              <a:ext cx="3851" cy="35974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nector 82"/>
            <p:cNvCxnSpPr/>
            <p:nvPr/>
          </p:nvCxnSpPr>
          <p:spPr>
            <a:xfrm>
              <a:off x="3568444" y="6912607"/>
              <a:ext cx="11553" cy="25696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nector 83"/>
            <p:cNvCxnSpPr/>
            <p:nvPr/>
          </p:nvCxnSpPr>
          <p:spPr>
            <a:xfrm>
              <a:off x="3579997" y="6938303"/>
              <a:ext cx="19255" cy="15418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 84"/>
            <p:cNvCxnSpPr/>
            <p:nvPr/>
          </p:nvCxnSpPr>
          <p:spPr>
            <a:xfrm>
              <a:off x="3599252" y="6953721"/>
              <a:ext cx="26957" cy="5139"/>
            </a:xfrm>
            <a:prstGeom prst="line">
              <a:avLst/>
            </a:prstGeom>
            <a:ln w="15240"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85"/>
            <p:cNvCxnSpPr/>
            <p:nvPr/>
          </p:nvCxnSpPr>
          <p:spPr>
            <a:xfrm>
              <a:off x="3626209" y="6958860"/>
              <a:ext cx="4898440" cy="0"/>
            </a:xfrm>
            <a:prstGeom prst="line">
              <a:avLst/>
            </a:prstGeom>
            <a:ln w="15240">
              <a:solidFill>
                <a:srgbClr val="00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Connector 87"/>
          <p:cNvCxnSpPr/>
          <p:nvPr/>
        </p:nvCxnSpPr>
        <p:spPr>
          <a:xfrm>
            <a:off x="7415568" y="5957335"/>
            <a:ext cx="1109081" cy="0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6799412" y="2538336"/>
            <a:ext cx="0" cy="294372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517128" y="5005146"/>
            <a:ext cx="0" cy="294373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6799412" y="4148341"/>
            <a:ext cx="0" cy="294372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4612058" y="6615151"/>
            <a:ext cx="0" cy="294373"/>
          </a:xfrm>
          <a:prstGeom prst="line">
            <a:avLst/>
          </a:prstGeom>
          <a:ln w="1524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313866" y="2396924"/>
            <a:ext cx="971093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KiCad 設計規則</a:t>
            </a:r>
            <a:endParaRPr dirty="0" sz="1000" kern="0" spc="0"/>
          </a:p>
        </p:txBody>
      </p:sp>
      <p:sp>
        <p:nvSpPr>
          <p:cNvPr id="94" name="TextBox 93"/>
          <p:cNvSpPr txBox="1"/>
          <p:nvPr/>
        </p:nvSpPr>
        <p:spPr>
          <a:xfrm>
            <a:off x="2108188" y="4863735"/>
            <a:ext cx="81788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送廠批准閘門</a:t>
            </a:r>
            <a:endParaRPr dirty="0" sz="1000" kern="0" spc="0"/>
          </a:p>
        </p:txBody>
      </p:sp>
      <p:sp>
        <p:nvSpPr>
          <p:cNvPr id="95" name="TextBox 94"/>
          <p:cNvSpPr txBox="1"/>
          <p:nvPr/>
        </p:nvSpPr>
        <p:spPr>
          <a:xfrm>
            <a:off x="6252449" y="4203452"/>
            <a:ext cx="1093927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KiCad9／pcbnew</a:t>
            </a:r>
            <a:endParaRPr dirty="0" sz="1000" kern="0" spc="0"/>
          </a:p>
        </p:txBody>
      </p:sp>
      <p:sp>
        <p:nvSpPr>
          <p:cNvPr id="96" name="TextBox 95"/>
          <p:cNvSpPr txBox="1"/>
          <p:nvPr/>
        </p:nvSpPr>
        <p:spPr>
          <a:xfrm>
            <a:off x="3724328" y="6670262"/>
            <a:ext cx="177546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ngspice／emc／kicad skills</a:t>
            </a:r>
            <a:endParaRPr dirty="0" sz="1000" kern="0" spc="0"/>
          </a:p>
        </p:txBody>
      </p:sp>
      <p:sp>
        <p:nvSpPr>
          <p:cNvPr id="97" name="TextBox 96"/>
          <p:cNvSpPr txBox="1"/>
          <p:nvPr/>
        </p:nvSpPr>
        <p:spPr>
          <a:xfrm>
            <a:off x="3023573" y="3552214"/>
            <a:ext cx="108204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子系統與零件清單</a:t>
            </a:r>
            <a:endParaRPr dirty="0" sz="1000" kern="0" spc="0"/>
          </a:p>
        </p:txBody>
      </p:sp>
      <p:sp>
        <p:nvSpPr>
          <p:cNvPr id="98" name="TextBox 97"/>
          <p:cNvSpPr txBox="1"/>
          <p:nvPr/>
        </p:nvSpPr>
        <p:spPr>
          <a:xfrm>
            <a:off x="5098675" y="3332668"/>
            <a:ext cx="121412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參考證據＋零件知識</a:t>
            </a:r>
            <a:endParaRPr dirty="0" sz="1000" kern="0" spc="0"/>
          </a:p>
        </p:txBody>
      </p:sp>
      <p:sp>
        <p:nvSpPr>
          <p:cNvPr id="99" name="TextBox 98"/>
          <p:cNvSpPr txBox="1"/>
          <p:nvPr/>
        </p:nvSpPr>
        <p:spPr>
          <a:xfrm>
            <a:off x="3374093" y="5771248"/>
            <a:ext cx="38100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PCB</a:t>
            </a:r>
            <a:endParaRPr dirty="0" sz="1000" kern="0" spc="0"/>
          </a:p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佈局</a:t>
            </a:r>
            <a:endParaRPr dirty="0" sz="1000" kern="0" spc="0"/>
          </a:p>
        </p:txBody>
      </p:sp>
      <p:sp>
        <p:nvSpPr>
          <p:cNvPr id="100" name="TextBox 99"/>
          <p:cNvSpPr txBox="1"/>
          <p:nvPr/>
        </p:nvSpPr>
        <p:spPr>
          <a:xfrm>
            <a:off x="5428875" y="5799478"/>
            <a:ext cx="55372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驗證結果</a:t>
            </a:r>
            <a:endParaRPr dirty="0" sz="1000" kern="0" spc="0"/>
          </a:p>
        </p:txBody>
      </p:sp>
      <p:sp>
        <p:nvSpPr>
          <p:cNvPr id="101" name="TextBox 100"/>
          <p:cNvSpPr txBox="1"/>
          <p:nvPr/>
        </p:nvSpPr>
        <p:spPr>
          <a:xfrm>
            <a:off x="4203118" y="4615409"/>
            <a:ext cx="81788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原理圖＋網表</a:t>
            </a:r>
            <a:endParaRPr dirty="0" sz="1000" kern="0" spc="0"/>
          </a:p>
        </p:txBody>
      </p:sp>
      <p:sp>
        <p:nvSpPr>
          <p:cNvPr id="102" name="TextBox 101"/>
          <p:cNvSpPr txBox="1"/>
          <p:nvPr/>
        </p:nvSpPr>
        <p:spPr>
          <a:xfrm>
            <a:off x="6588592" y="4730527"/>
            <a:ext cx="42164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原理圖</a:t>
            </a:r>
            <a:endParaRPr dirty="0" sz="1000" kern="0" spc="0"/>
          </a:p>
        </p:txBody>
      </p:sp>
      <p:sp>
        <p:nvSpPr>
          <p:cNvPr id="103" name="TextBox 102"/>
          <p:cNvSpPr txBox="1"/>
          <p:nvPr/>
        </p:nvSpPr>
        <p:spPr>
          <a:xfrm>
            <a:off x="113793" y="3319074"/>
            <a:ext cx="92456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自然語言規格</a:t>
            </a:r>
            <a:endParaRPr dirty="0" sz="1000" kern="0" spc="0"/>
          </a:p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＋專案資料夾</a:t>
            </a:r>
            <a:endParaRPr dirty="0" sz="1000" kern="0" spc="0"/>
          </a:p>
        </p:txBody>
      </p:sp>
      <p:sp>
        <p:nvSpPr>
          <p:cNvPr id="104" name="TextBox 103"/>
          <p:cNvSpPr txBox="1"/>
          <p:nvPr/>
        </p:nvSpPr>
        <p:spPr>
          <a:xfrm>
            <a:off x="235074" y="2365241"/>
            <a:ext cx="817880" cy="3429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參考開發板語</a:t>
            </a:r>
            <a:endParaRPr dirty="0" sz="1000" kern="0" spc="0"/>
          </a:p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料（控制組）</a:t>
            </a:r>
            <a:endParaRPr dirty="0" sz="1000" kern="0" spc="0"/>
          </a:p>
        </p:txBody>
      </p:sp>
      <p:sp>
        <p:nvSpPr>
          <p:cNvPr id="105" name="TextBox 104"/>
          <p:cNvSpPr txBox="1"/>
          <p:nvPr/>
        </p:nvSpPr>
        <p:spPr>
          <a:xfrm>
            <a:off x="8469610" y="6899676"/>
            <a:ext cx="2025091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製造輸出（Gerber/鑽孔/STEP）</a:t>
            </a:r>
            <a:endParaRPr dirty="0" sz="1000" kern="0" spc="0"/>
          </a:p>
        </p:txBody>
      </p:sp>
      <p:sp>
        <p:nvSpPr>
          <p:cNvPr id="106" name="TextBox 105"/>
          <p:cNvSpPr txBox="1"/>
          <p:nvPr/>
        </p:nvSpPr>
        <p:spPr>
          <a:xfrm>
            <a:off x="8524649" y="5865260"/>
            <a:ext cx="949960" cy="18415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 tIns="0" bIns="0" anchor="ctr">
            <a:normAutofit/>
          </a:bodyPr>
          <a:lstStyle/>
          <a:p>
            <a:pPr algn="ctr">
              <a:defRPr sz="1000" b="0" i="0">
                <a:solidFill>
                  <a:srgbClr val="000000"/>
                </a:solidFill>
                <a:latin typeface="標楷體"/>
              </a:defRPr>
            </a:pPr>
            <a:r>
              <a:rPr dirty="0" sz="1000" kern="0" spc="0"/>
              <a:t>就緒度＋文件包</a:t>
            </a:r>
            <a:endParaRPr dirty="0" sz="1000" kern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